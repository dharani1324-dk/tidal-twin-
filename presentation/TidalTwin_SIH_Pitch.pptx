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E3A5F"/>
                </a:solidFill>
                <a:latin typeface="Segoe UI"/>
              </a:rPr>
              <a:t>TidalTwin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A5E9"/>
                </a:solidFill>
                <a:latin typeface="Segoe UI"/>
              </a:rPr>
              <a:t>Interactive 4D Ocean Model Validation &amp; Decision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0424160" cy="36576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3886200"/>
            <a:ext cx="10424160" cy="137160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224528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1F2937"/>
                </a:solidFill>
                <a:latin typeface="Segoe UI"/>
              </a:rPr>
              <a:t>“Not another ocean viewer — we tell you where the model disagrees with reality,</a:t>
            </a:r>
          </a:p>
          <a:p>
            <a:pPr algn="l">
              <a:lnSpc>
                <a:spcPct val="100000"/>
              </a:lnSpc>
            </a:pPr>
            <a:r>
              <a:rPr sz="1900" b="0">
                <a:solidFill>
                  <a:srgbClr val="1F2937"/>
                </a:solidFill>
                <a:latin typeface="Segoe UI"/>
              </a:rPr>
              <a:t>why it matters, and what to do about it. The 3D globe is just the interface.”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6678"/>
                </a:solidFill>
                <a:latin typeface="Segoe UI"/>
              </a:rPr>
              <a:t>Smart India Hackathon 2026  ·  Problem Statement SIH-26067  ·  Ocean Data Utilization for Coastal Community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093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56678"/>
                </a:solidFill>
                <a:latin typeface="Segoe UI"/>
              </a:rPr>
              <a:t>Team TidalTwin  · 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5F"/>
                </a:solidFill>
                <a:latin typeface="Segoe UI"/>
              </a:rPr>
              <a:t>From “what the ocean looks like” to “is the model right?”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777240"/>
            <a:ext cx="10424160" cy="44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6678"/>
                </a:solidFill>
                <a:latin typeface="Segoe UI"/>
              </a:rPr>
              <a:t>The gap: coastal India makes life-and-safety decisions on instinct and scattered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572000" cy="393192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830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11D48"/>
                </a:solidFill>
                <a:latin typeface="Segoe UI"/>
              </a:rPr>
              <a:t>THE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28600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7,500 km of coastline — data-poor, decisions made on instinct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90779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907792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Ocean tools show WHAT the sea looks like, never IF the model is 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5295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529584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Models drift from reality quietly — heatwaves, rough seas, flood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15137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151376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Warnings reach the coast late, in no language the community speaks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77316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773168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Platforms are archival: they show yesterday, they don’t validate today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508760"/>
            <a:ext cx="5669280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7830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3A5F"/>
                </a:solidFill>
                <a:latin typeface="Segoe UI"/>
              </a:rPr>
              <a:t>OUR ANSWER — THE SCIENTIFIC INTELLIGENCE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55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700723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57416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55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QC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331659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88352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MATCHING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62595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19288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DEVIATION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593531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50224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UNCERTAINTY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224467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81160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EVENT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855403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12096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IMPACT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486339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543032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20040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Segoe UI"/>
              </a:rPr>
              <a:t>Live data → quality check → model-observation matching → field-by-field deviation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Segoe UI"/>
              </a:rPr>
              <a:t>→ explained uncertainty → classified ocean events → impact on coastal people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Segoe UI"/>
              </a:rPr>
              <a:t>→ a concrete operational decision.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8920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A5E9"/>
                </a:solidFill>
                <a:latin typeface="Segoe UI"/>
              </a:rPr>
              <a:t>The 3D globe is only the interface — the intelligence is the pipeline.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66928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594360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We validate · we measure · we explain · we name the event · we end in a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5F"/>
                </a:solidFill>
                <a:latin typeface="Segoe UI"/>
              </a:rPr>
              <a:t>Live today — data in, decisions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777240"/>
            <a:ext cx="10424160" cy="44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19786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55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DATA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916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Segoe UI"/>
              </a:rPr>
              <a:t>Open-Meteo Marine (ERA5-driven)  ·  PostgreSQL 16 + PostGIS  ·  8 Indian coastal regions  ·  384+ live observations  ·  injected heatwave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29514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BACKEND — FASTAPI AI ENGINES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Segoe UI"/>
              </a:rPr>
              <a:t>Difference Engine  ·  Explainable Confidence  ·  Model Skill Score  ·  Event Classification  ·  Anomaly Detection (Isolation Forest + z-score)  ·  Forecasting  ·  Safety Advisory  ·  Risk Index  ·  What-If Simulator  ·  NLP Assistant  ·  Live WebSocket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1188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39242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FRONTEND — REACT 19 · TYPESCRIPT · CESIUM 3D · PWA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8620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Segoe UI"/>
              </a:rPr>
              <a:t>Dashboard  ·  4D Digital Twin Globe &amp; Event Replay  ·  Model Validation Workspace  ·  Monitoring  ·  Safety Center  ·  National Risk Map  ·  Ocean AI  ·  Story Mode  · 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48970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DECISION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8348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Segoe UI"/>
              </a:rPr>
              <a:t>SAFE / CAUTION / DANGER advisory  ·  safe sailing window (IST)  ·  SMS / WhatsApp + 6-language voice  ·  national risk map  ·  executive report +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321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5F"/>
                </a:solidFill>
                <a:latin typeface="Segoe UI"/>
              </a:rPr>
              <a:t>LIVE PROOF (from the running system)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Marine heatwave at Goa CAUGHT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90672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+1.8°C vs model baseline — explained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18304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91% event confidence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936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DANGER advisory + 6-language voice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Confidence 92–100% component-by-component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Observations streamed live every 12s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5F"/>
                </a:solidFill>
                <a:latin typeface="Segoe UI"/>
              </a:rPr>
              <a:t>From validation to action at the coast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777240"/>
            <a:ext cx="10424160" cy="44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554480"/>
            <a:ext cx="2450592" cy="35661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3A5F"/>
                </a:solidFill>
                <a:latin typeface="Segoe UI"/>
              </a:rPr>
              <a:t>🐟  LIVELIHOODS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514600"/>
            <a:ext cx="199339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7"/>
                </a:solidFill>
                <a:latin typeface="Segoe UI"/>
              </a:rPr>
              <a:t>Tells fisherfolk which grounds are safe today — and when the next safe sailing window opens.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76472" y="1554480"/>
            <a:ext cx="2450592" cy="35661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5072" y="192024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3A5F"/>
                </a:solidFill>
                <a:latin typeface="Segoe UI"/>
              </a:rPr>
              <a:t>🏥 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2514600"/>
            <a:ext cx="199339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7"/>
                </a:solidFill>
                <a:latin typeface="Segoe UI"/>
              </a:rPr>
              <a:t>Anomaly → event → advisory in seconds: detection, confidence, interpretation, alert on one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55664" y="1554480"/>
            <a:ext cx="2450592" cy="35661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4264" y="192024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3A5F"/>
                </a:solidFill>
                <a:latin typeface="Segoe UI"/>
              </a:rPr>
              <a:t>🏛️ 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4264" y="2514600"/>
            <a:ext cx="199339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7"/>
                </a:solidFill>
                <a:latin typeface="Segoe UI"/>
              </a:rPr>
              <a:t>Authorities get a validated, auditable ocean brief — risk ranking, executive summary, CSV.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1554480"/>
            <a:ext cx="2450592" cy="35661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6" y="192024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3A5F"/>
                </a:solidFill>
                <a:latin typeface="Segoe UI"/>
              </a:rPr>
              <a:t>🌍 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2514600"/>
            <a:ext cx="199339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7"/>
                </a:solidFill>
                <a:latin typeface="Segoe UI"/>
              </a:rPr>
              <a:t>The pipeline is coastline-agnostic — point it at any coast and the same engines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394960"/>
            <a:ext cx="9966960" cy="109728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50992"/>
            <a:ext cx="9235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With SIH support: scale to 100+ Indian coastal regions and connect official marine advisories —</a:t>
            </a:r>
          </a:p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a decision-intelligence dashboard in the hands of every coast.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5F"/>
                </a:solidFill>
                <a:latin typeface="Segoe UI"/>
              </a:rPr>
              <a:t>Database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777240"/>
            <a:ext cx="10424160" cy="44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b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647" y="3748090"/>
            <a:ext cx="2400" cy="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739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56678"/>
                </a:solidFill>
                <a:latin typeface="Segoe UI"/>
              </a:rPr>
              <a:t>Sources → ingestion → PostgreSQL 16 + PostGIS 3.4 → engines → outputs · every row traceable via provenance_register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5F"/>
                </a:solidFill>
                <a:latin typeface="Segoe UI"/>
              </a:rPr>
              <a:t>Whole-project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777240"/>
            <a:ext cx="10424160" cy="44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jec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47" y="3747700"/>
            <a:ext cx="2600" cy="2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739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56678"/>
                </a:solidFill>
                <a:latin typeface="Segoe UI"/>
              </a:rPr>
              <a:t>TIDE closes the adaptive loop: recommended next observation → re-observe → re-ingest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5F"/>
                </a:solidFill>
                <a:latin typeface="Segoe UI"/>
              </a:rPr>
              <a:t>Research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777240"/>
            <a:ext cx="10424160" cy="44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143000"/>
            <a:ext cx="3383280" cy="443484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143000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225296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OPEN DATA SOURCES (in production)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Open-Meteo Marine API (ERA5-driven) — live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7860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NOAA CoastWatch ERDDAP — HYCOM 3D model + chlorophyll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28416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IOOS National Glider DAC — glider profiles + BGC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7822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Argo Program GDAC — real float T/S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28032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Global Fishing Watch AIS — derived surface currents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143000"/>
            <a:ext cx="3383280" cy="443484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143000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9A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225296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ACADEMIC INSPIRATION (framing, not validation)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Howard, Information Value Theory — IEEE TSSC (1966)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57860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Lindley, On a Measure of the Information Provided by an Experiment — Ann. Math. Stat. (1956)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328416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MacKay, Information-Based Objective Functions for Active Data Selection — Neural Computation (1992)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7822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Liu, Ting &amp; Zhou, Isolation-Based Anomaly Detection — ACM TKDD (2012)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143000"/>
            <a:ext cx="3383280" cy="443484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80" y="1143000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1225296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8288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FastAPI · SQLAlchemy · Pydantic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57860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PostgreSQL 16 · PostGIS 3.4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328416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React 19 · TypeScript · Vite · PWA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07822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CesiumJS 3D globe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828032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scikit-learn · NetCDF/CF · Docker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8064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11D48"/>
                </a:solidFill>
                <a:latin typeface="Segoe UI"/>
              </a:rPr>
              <a:t>Honesty: TIDE is inspired by decision / value-of-information theory as a decision-support heuristic; empirical scientific validation is future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